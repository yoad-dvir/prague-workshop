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4ECDC4">
              <a:alpha val="12000"/>
            </a:srgbClr>
          </a:solidFill>
          <a:ln w="12700">
            <a:solidFill>
              <a:srgbClr val="0C0F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640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PRAGUE AUTOIMMUNITY CONGRESS ·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at the Bedside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Reasoning in the Age of AI Chatbots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91540" y="3794760"/>
            <a:ext cx="1737360" cy="365760"/>
          </a:xfrm>
          <a:prstGeom prst="roundRect">
            <a:avLst>
              <a:gd name="adj" fmla="val 45000"/>
            </a:avLst>
          </a:prstGeom>
          <a:solidFill>
            <a:srgbClr val="4ECDC4">
              <a:alpha val="15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66060" y="3794760"/>
            <a:ext cx="1737360" cy="365760"/>
          </a:xfrm>
          <a:prstGeom prst="roundRect">
            <a:avLst>
              <a:gd name="adj" fmla="val 45000"/>
            </a:avLst>
          </a:prstGeom>
          <a:solidFill>
            <a:srgbClr val="6C5CE7">
              <a:alpha val="15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6606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SPEAKERS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0580" y="3794760"/>
            <a:ext cx="1737360" cy="365760"/>
          </a:xfrm>
          <a:prstGeom prst="roundRect">
            <a:avLst>
              <a:gd name="adj" fmla="val 45000"/>
            </a:avLst>
          </a:prstGeom>
          <a:solidFill>
            <a:srgbClr val="FFD93D">
              <a:alpha val="15000"/>
            </a:srgbClr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058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 PARTICIPANTS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15100" y="3794760"/>
            <a:ext cx="1737360" cy="365760"/>
          </a:xfrm>
          <a:prstGeom prst="roundRect">
            <a:avLst>
              <a:gd name="adj" fmla="val 45000"/>
            </a:avLst>
          </a:prstGeom>
          <a:solidFill>
            <a:srgbClr val="FF6B6B">
              <a:alpha val="1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510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CLINICAL CASES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YOAD DVIR  ·  OR DEGANY  ·  DAPHNA IDAN  ·  ITAMAR BEN SHITRIT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 THE BEDSIDE · PRAGUE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yoad-dvir.github.io/prague-workshop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THE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speakers. One shared angle.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technologist and three clinicians — each bringing a different perspective on how AI shows up in the clinical room.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1965960" cy="310896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45920"/>
            <a:ext cx="19659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pic>
        <p:nvPicPr>
          <p:cNvPr id="11" name="Image 0" descr="images/yo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828800"/>
            <a:ext cx="1005840" cy="1005840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Yoad Dvir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383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&amp; AI Technologist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Silverfort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4343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· 20 MIN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14600" y="1645920"/>
            <a:ext cx="1965960" cy="310896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14600" y="1645920"/>
            <a:ext cx="196596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pic>
        <p:nvPicPr>
          <p:cNvPr id="17" name="Image 1" descr="images/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60" y="1828800"/>
            <a:ext cx="1005840" cy="1005840"/>
          </a:xfrm>
          <a:prstGeom prst="ellipse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1460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Degany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606040" y="3383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· Hadassah Medical Center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 Aviv Univ.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514600" y="4343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LEAD · 20 MIN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63440" y="1645920"/>
            <a:ext cx="1965960" cy="310896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63440" y="1645920"/>
            <a:ext cx="196596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pic>
        <p:nvPicPr>
          <p:cNvPr id="23" name="Image 2" descr="images/daphn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828800"/>
            <a:ext cx="1005840" cy="1005840"/>
          </a:xfrm>
          <a:prstGeom prst="ellipse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6344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Daphna Idan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4754880" y="3383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MD/MPH · Head of Research at Medint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ED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663440" y="4343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812280" y="1645920"/>
            <a:ext cx="1965960" cy="310896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12280" y="1645920"/>
            <a:ext cx="19659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9" name="Image 3" descr="images/itama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340" y="1828800"/>
            <a:ext cx="1005840" cy="1005840"/>
          </a:xfrm>
          <a:prstGeom prst="ellipse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1228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Itamar Ben Shitrit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6903720" y="3383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MD/MPH · Chief of Staff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Soroka · BGU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812280" y="4343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 THE BEDSIDE · PRAGUE 2026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4572000" y="4892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yoad-dvir.github.io/prague-workshop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THE TIMELINE · AT A GLANCE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hours · eight segments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workshop in one view — who, what topic, and how long.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371600" cy="14630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Intro + AI foundations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1920240"/>
            <a:ext cx="1371600" cy="146304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74520" y="2487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 Clinical reasoning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920240"/>
            <a:ext cx="1371600" cy="146304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Daphna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2487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Patient-facing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685800" cy="1463040"/>
          </a:xfrm>
          <a:prstGeom prst="rect">
            <a:avLst/>
          </a:prstGeom>
          <a:solidFill>
            <a:srgbClr val="5A6373"/>
          </a:solidFill>
          <a:ln w="12700">
            <a:solidFill>
              <a:srgbClr val="5A63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1945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Break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0175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257800" y="1920240"/>
            <a:ext cx="1371600" cy="1463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Itamar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2487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AI at hospital scale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29400" y="1920240"/>
            <a:ext cx="1371600" cy="146304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vs no-AI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2487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Case exercise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294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01000" y="1920240"/>
            <a:ext cx="548640" cy="146304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2194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01000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549640" y="1920240"/>
            <a:ext cx="137160" cy="14630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9640" y="2194560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49640" y="30175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0" cy="73152"/>
          </a:xfrm>
          <a:prstGeom prst="line">
            <a:avLst/>
          </a:prstGeom>
          <a:noFill/>
          <a:ln w="12700">
            <a:solidFill>
              <a:srgbClr val="5A63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14600" y="3383280"/>
            <a:ext cx="0" cy="73152"/>
          </a:xfrm>
          <a:prstGeom prst="line">
            <a:avLst/>
          </a:prstGeom>
          <a:noFill/>
          <a:ln w="12700">
            <a:solidFill>
              <a:srgbClr val="5A63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028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3383280"/>
            <a:ext cx="0" cy="73152"/>
          </a:xfrm>
          <a:prstGeom prst="line">
            <a:avLst/>
          </a:prstGeom>
          <a:noFill/>
          <a:ln w="12700">
            <a:solidFill>
              <a:srgbClr val="5A63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29400" y="3383280"/>
            <a:ext cx="0" cy="73152"/>
          </a:xfrm>
          <a:prstGeom prst="line">
            <a:avLst/>
          </a:prstGeom>
          <a:noFill/>
          <a:ln w="12700">
            <a:solidFill>
              <a:srgbClr val="5A63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686800" y="3383280"/>
            <a:ext cx="0" cy="73152"/>
          </a:xfrm>
          <a:prstGeom prst="line">
            <a:avLst/>
          </a:prstGeom>
          <a:noFill/>
          <a:ln w="12700">
            <a:solidFill>
              <a:srgbClr val="5A637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blocks. Block 1 builds the foundation. Block 2 pressure-tests it with a live case exercise.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 THE BEDSIDE · PRAGUE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0" y="4892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yoad-dvir.github.io/prague-workshop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BLOCK 1 · FOUNDATIONS  (0:00 → 1:00)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ground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91440" cy="7772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258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 — 0:20</a:t>
            </a:r>
            <a:endParaRPr lang="en-US" sz="1200" dirty="0"/>
          </a:p>
        </p:txBody>
      </p:sp>
      <p:pic>
        <p:nvPicPr>
          <p:cNvPr id="11" name="Image 0" descr="images/yo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463040"/>
            <a:ext cx="502920" cy="502920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51760" y="1399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🎙️ Yoad — Intro, objectives + AI foundations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651760" y="17373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the workshop: three objectives. How LLMs really work. The CLEAR prompting framework. A live hallucination demo.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63840" y="1572768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1A1F28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15727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2194560"/>
            <a:ext cx="91440" cy="77724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2194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0:20 — 0:40</a:t>
            </a:r>
            <a:endParaRPr lang="en-US" sz="1200" dirty="0"/>
          </a:p>
        </p:txBody>
      </p:sp>
      <p:pic>
        <p:nvPicPr>
          <p:cNvPr id="19" name="Image 1" descr="images/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331720"/>
            <a:ext cx="502920" cy="502920"/>
          </a:xfrm>
          <a:prstGeom prst="ellipse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51760" y="2267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🩺 Or — Clinical reasoning under AI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651760" y="2606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diagnosis really works. Where cognitive biases slip in — and which of them AI mitigates vs. amplifies.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863840" y="2441448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1A1F28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863840" y="24414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3063240"/>
            <a:ext cx="8229600" cy="77724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7200" y="3063240"/>
            <a:ext cx="91440" cy="77724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85800" y="3063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0:40 — 1:00</a:t>
            </a:r>
            <a:endParaRPr lang="en-US" sz="1200" dirty="0"/>
          </a:p>
        </p:txBody>
      </p:sp>
      <p:pic>
        <p:nvPicPr>
          <p:cNvPr id="27" name="Image 2" descr="images/daphn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200400"/>
            <a:ext cx="502920" cy="502920"/>
          </a:xfrm>
          <a:prstGeom prst="ellipse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651760" y="3136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Daphna — The patient-facing frontier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2651760" y="34747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Medint model. How AI-augmented research teams help patients with complex cases — and what responsible AI looks like.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7863840" y="3310128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1A1F28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863840" y="33101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57200" y="3931920"/>
            <a:ext cx="91440" cy="777240"/>
          </a:xfrm>
          <a:prstGeom prst="rect">
            <a:avLst/>
          </a:prstGeom>
          <a:solidFill>
            <a:srgbClr val="5A6373"/>
          </a:solidFill>
          <a:ln w="12700">
            <a:solidFill>
              <a:srgbClr val="5A637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85800" y="39319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— 1:10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2011680" y="4069080"/>
            <a:ext cx="502920" cy="502920"/>
          </a:xfrm>
          <a:prstGeom prst="ellipse">
            <a:avLst/>
          </a:prstGeom>
          <a:solidFill>
            <a:srgbClr val="1A1F28"/>
          </a:solidFill>
          <a:ln w="19050">
            <a:solidFill>
              <a:srgbClr val="5A6373"/>
            </a:solidFill>
            <a:prstDash val="dash"/>
          </a:ln>
        </p:spPr>
      </p:sp>
      <p:sp>
        <p:nvSpPr>
          <p:cNvPr id="36" name="Text 31"/>
          <p:cNvSpPr/>
          <p:nvPr/>
        </p:nvSpPr>
        <p:spPr>
          <a:xfrm>
            <a:off x="20116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651760" y="4005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☕ Break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2651760" y="4343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minutes. Coffee, hallway conversations, reset before Block 2.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7863840" y="4178808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1A1F28"/>
          </a:solidFill>
          <a:ln w="12700">
            <a:solidFill>
              <a:srgbClr val="5A6373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863840" y="41788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 THE BEDSIDE · PRAGUE 2026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4572000" y="4892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yoad-dvir.github.io/prague-workshop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BLOCK 2 · PRESSURE TEST  (1:10 → 2:00)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heart of the workshop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91440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258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1:10 — 1:30</a:t>
            </a:r>
            <a:endParaRPr lang="en-US" sz="1200" dirty="0"/>
          </a:p>
        </p:txBody>
      </p:sp>
      <p:pic>
        <p:nvPicPr>
          <p:cNvPr id="11" name="Image 0" descr="images/itam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463040"/>
            <a:ext cx="502920" cy="502920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51760" y="1399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Itamar — AI meets the hospital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651760" y="17373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view. What data really shows about accuracy, bias, and failure modes. Human-in-the-loop vs. on-the-loop.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63840" y="1572768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1A1F2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15727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2194560"/>
            <a:ext cx="91440" cy="77724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2194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1:30 — 1:50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011680" y="2331720"/>
            <a:ext cx="502920" cy="502920"/>
          </a:xfrm>
          <a:prstGeom prst="ellipse">
            <a:avLst/>
          </a:prstGeom>
          <a:solidFill>
            <a:srgbClr val="1A1F28"/>
          </a:solidFill>
          <a:ln w="19050">
            <a:solidFill>
              <a:srgbClr val="FFD93D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20116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651760" y="2267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Case Challenge — AI vs. no-AI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651760" y="2606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1: half the room with AI, half without. Round 2: they swap. Everyone experiences both conditions.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863840" y="2441448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1A1F28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0" y="24414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3063240"/>
            <a:ext cx="8229600" cy="77724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3063240"/>
            <a:ext cx="91440" cy="77724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5800" y="3063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1:50 — 1:58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011680" y="3200400"/>
            <a:ext cx="502920" cy="502920"/>
          </a:xfrm>
          <a:prstGeom prst="ellipse">
            <a:avLst/>
          </a:prstGeom>
          <a:solidFill>
            <a:srgbClr val="1A1F28"/>
          </a:solidFill>
          <a:ln w="19050">
            <a:solidFill>
              <a:srgbClr val="6C5CE7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20116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2651760" y="3136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Live Debrief — Compare outcomes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651760" y="34747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AI catch that humans missed? What did humans catch that AI missed? Three clinical lenses — Or, Daphna, Itamar.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863840" y="3310128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1A1F28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0" y="33101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8m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" y="3931920"/>
            <a:ext cx="91440" cy="7772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5800" y="39319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1:58 — 2:00</a:t>
            </a:r>
            <a:endParaRPr lang="en-US" sz="1200" dirty="0"/>
          </a:p>
        </p:txBody>
      </p:sp>
      <p:pic>
        <p:nvPicPr>
          <p:cNvPr id="37" name="Image 1" descr="images/yo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4069080"/>
            <a:ext cx="502920" cy="502920"/>
          </a:xfrm>
          <a:prstGeom prst="ellipse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2651760" y="4005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🎤 Close · what's next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2651760" y="4343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Yoad closes with the 90-second copilot-to-agent vision — where clinical AI is heading in the next 12 months.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7863840" y="4178808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1A1F28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863840" y="41788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 THE BEDSIDE · PRAGUE 2026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4572000" y="4892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yoad-dvir.github.io/prague-workshop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OBJECTIVES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objectives · clear measurement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the workshop, every participant walks out with three new capabilities they can use the next day.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621280" cy="283464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916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4ECDC4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225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chatbots really work — next-word prediction, not 'understanding'. Why medicine is uniquely hard for them.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1360" y="1691640"/>
            <a:ext cx="2621280" cy="283464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8520" y="16916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6C5CE7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261360" y="242316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261360" y="3108960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44240" y="3566160"/>
            <a:ext cx="225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write safe, effective prompts for clinical reasoning — using the CLEAR framework, ready to use Monday morning.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65520" y="1691640"/>
            <a:ext cx="2621280" cy="2834640"/>
          </a:xfrm>
          <a:prstGeom prst="rect">
            <a:avLst/>
          </a:prstGeom>
          <a:solidFill>
            <a:srgbClr val="14181F"/>
          </a:solidFill>
          <a:ln w="12700">
            <a:solidFill>
              <a:srgbClr val="252B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2680" y="16916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FF6B6B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065520" y="242316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065520" y="3108960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48400" y="3566160"/>
            <a:ext cx="225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trust AI output, when to question it, and how to spot hallucinations and prompt failures in real time.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 THE BEDSIDE · PRAGUE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4892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yoad-dvir.github.io/prague-workshop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6C5CE7">
              <a:alpha val="15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THE MESSAGE THAT STAYS IN THE ROOM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i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Monday Doctor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 we want to clear isn't "a good workshop." It's this:
</a:t>
            </a:r>
            <a:pPr algn="ctr" indent="0" marL="0">
              <a:buNone/>
            </a:pPr>
            <a:r>
              <a:rPr lang="en-US" sz="16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clinician walk out and, next Monday morning — </a:t>
            </a:r>
            <a:pPr algn="ctr" indent="0" marL="0">
              <a:buNone/>
            </a:pPr>
            <a:r>
              <a:rPr lang="en-US" sz="1600" b="1" i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the AI differently?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 THE BEDSIDE · PRAGUE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yoad-dvir.github.io/prague-workshop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at the Bedside — Prague 2026</dc:title>
  <dc:subject>PptxGenJS Presentation</dc:subject>
  <dc:creator>Yoad Dvir</dc:creator>
  <cp:lastModifiedBy>Yoad Dvir</cp:lastModifiedBy>
  <cp:revision>1</cp:revision>
  <dcterms:created xsi:type="dcterms:W3CDTF">2026-04-19T21:02:27Z</dcterms:created>
  <dcterms:modified xsi:type="dcterms:W3CDTF">2026-04-19T21:02:27Z</dcterms:modified>
</cp:coreProperties>
</file>